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JetBrains Mono Medium"/>
      <p:regular r:id="rId201314"/>
    </p:embeddedFont>
    <p:embeddedFont>
      <p:font typeface="JetBrains Mono SemiBold"/>
      <p:regular r:id="rId201315"/>
    </p:embeddedFont>
    <p:embeddedFont>
      <p:font typeface="Mona Sans Bold"/>
      <p:regular r:id="rId201316"/>
    </p:embeddedFont>
    <p:embeddedFont>
      <p:font typeface="Mona Sans"/>
      <p:regular r:id="rId201317"/>
    </p:embeddedFont>
    <p:embeddedFont>
      <p:font typeface="Mona Sans Medium"/>
      <p:regular r:id="rId201318"/>
    </p:embeddedFont>
    <p:embeddedFont>
      <p:font typeface="Mona Sans SemiBold"/>
      <p:regular r:id="rId201319"/>
    </p:embeddedFont>
    <p:embeddedFont>
      <p:font typeface="Sofia Sans Condensed Extra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A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A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603835" cy="3999508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5" y="609600"/>
            <a:ext cx="50799" cy="3999508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4" name="Text 2"/>
          <p:cNvSpPr/>
          <p:nvPr/>
        </p:nvSpPr>
        <p:spPr>
          <a:xfrm>
            <a:off x="1041374" y="889000"/>
            <a:ext cx="642603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CUSTOMER SHOPPING BEHAVIOR · GROWTH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74" y="1147763"/>
            <a:ext cx="5816454" cy="1612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600" spc="-138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CUSTOMER SHOPPING</a:t>
            </a:r>
            <a:endParaRPr lang="en-US" sz="4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4600" spc="-138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BEHAVIOR CAN BECOME</a:t>
            </a:r>
            <a:endParaRPr lang="en-US" sz="4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4600" spc="-138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A GROWTH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41374" y="2912269"/>
            <a:ext cx="5816454" cy="976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Use 3,900 purchase records to improve engagement, loyalty, marketing efficiency, and product decisions.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1374" y="4008934"/>
            <a:ext cx="5816454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DECISION BRIEF · RETAIL LEADERSHIP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41374" y="4021634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897" y="2451100"/>
            <a:ext cx="3886103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400640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THE BUSINESS QUESTION IS NOT WHO BUYS, BUT WHAT MAKES THEM RETURN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2097385"/>
            <a:ext cx="6400640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DECISION TO MAKE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2110085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0"/>
            <a:ext cx="4876678" cy="3429000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6" name="Text 4"/>
          <p:cNvSpPr/>
          <p:nvPr/>
        </p:nvSpPr>
        <p:spPr>
          <a:xfrm>
            <a:off x="7746806" y="381000"/>
            <a:ext cx="4013100" cy="67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01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746806" y="1211064"/>
            <a:ext cx="4013100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Understand the shifts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46806" y="1703487"/>
            <a:ext cx="4013100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Management wants to understand shifts across demographics, categories, seasons, discounts, reviews, payments, and sales channels.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0" name="Text 8"/>
          <p:cNvSpPr/>
          <p:nvPr/>
        </p:nvSpPr>
        <p:spPr>
          <a:xfrm>
            <a:off x="431789" y="3810000"/>
            <a:ext cx="11328117" cy="67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02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31789" y="4640064"/>
            <a:ext cx="11328117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Turn data into decisions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1789" y="5132487"/>
            <a:ext cx="11328117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goal is to turn fragmented transaction data into decisions that improve sales, satisfaction, and long-term loyalty.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THE DATA IS DECISION-READY, WITH ONE CLEAR CLEANUP PRIORITY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06748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3,900 PURCHASES · 18 FIELDS · ONE CLEANUP PRIORITY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2054523"/>
            <a:ext cx="3759106" cy="4346277"/>
          </a:xfrm>
          <a:custGeom>
            <a:avLst/>
            <a:gdLst/>
            <a:ahLst/>
            <a:cxnLst/>
            <a:rect l="l" t="t" r="r" b="b"/>
            <a:pathLst>
              <a:path w="3759106" h="4346277">
                <a:moveTo>
                  <a:pt x="9525" y="0"/>
                </a:moveTo>
                <a:lnTo>
                  <a:pt x="3759106" y="0"/>
                </a:lnTo>
                <a:lnTo>
                  <a:pt x="3759106" y="4346277"/>
                </a:lnTo>
                <a:lnTo>
                  <a:pt x="9525" y="4346277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DCDE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359323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81" y="3127673"/>
            <a:ext cx="3149521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Purchase base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1981" y="3620095"/>
            <a:ext cx="3149521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1E21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3,900 purchases: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18 fields covering customers, products, fulfillment, ratings, discounts, subscriptions, and purchase frequency.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216295" y="2054523"/>
            <a:ext cx="3759106" cy="4346277"/>
          </a:xfrm>
          <a:prstGeom prst="rect">
            <a:avLst/>
          </a:prstGeom>
          <a:solidFill>
            <a:srgbClr val="DCDED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87" y="2359323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1087" y="3127673"/>
            <a:ext cx="3149521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Cleanup priority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21087" y="3620095"/>
            <a:ext cx="3149521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1E21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Data preparation: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standardize columns, impute 37 missing review ratings by category median, engineer age groups and purchase-frequency days.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975400" y="2054523"/>
            <a:ext cx="3759106" cy="4346277"/>
          </a:xfrm>
          <a:custGeom>
            <a:avLst/>
            <a:gdLst/>
            <a:ahLst/>
            <a:cxnLst/>
            <a:rect l="l" t="t" r="r" b="b"/>
            <a:pathLst>
              <a:path w="3759106" h="4346277">
                <a:moveTo>
                  <a:pt x="0" y="0"/>
                </a:moveTo>
                <a:lnTo>
                  <a:pt x="3749581" y="0"/>
                </a:lnTo>
                <a:arcTo hR="9525" wR="9525" stAng="16200000" swAng="5400000"/>
                <a:lnTo>
                  <a:pt x="3759106" y="4336752"/>
                </a:lnTo>
                <a:arcTo hR="9525" wR="9525" stAng="0" swAng="5400000"/>
                <a:lnTo>
                  <a:pt x="0" y="4346277"/>
                </a:lnTo>
                <a:lnTo>
                  <a:pt x="0" y="0"/>
                </a:lnTo>
                <a:close/>
              </a:path>
            </a:pathLst>
          </a:custGeom>
          <a:solidFill>
            <a:srgbClr val="DCDED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2359323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3" y="3127673"/>
            <a:ext cx="3149521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Analysis stack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280193" y="3620095"/>
            <a:ext cx="3149521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1E21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Analysis stack: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Python for preparation, PostgreSQL for business queries, Power BI for stakeholder visibility.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209945" y="2054523"/>
            <a:ext cx="12700" cy="4346277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18" name="Shape 13"/>
          <p:cNvSpPr/>
          <p:nvPr/>
        </p:nvSpPr>
        <p:spPr>
          <a:xfrm>
            <a:off x="7969051" y="2054523"/>
            <a:ext cx="12700" cy="4346277"/>
          </a:xfrm>
          <a:prstGeom prst="rect">
            <a:avLst/>
          </a:prstGeom>
          <a:solidFill>
            <a:srgbClr val="BCC0B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CLOTHING IS THE REVENUE ENGINE; ACCESSORIES ARE THE NEXT SCALE POOL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06748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REVENUE AND SALES BY CATEGORY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054523"/>
            <a:ext cx="10413739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5553373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Top-volume products: Blouse, Pants, Shirt, Jewelry, Sunglasses, Belt, Sandals, Shoes, Sneakers, Jacket, and Coat.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189" y="5566073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5994250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DISCOUNTS LIFT CONVERSION, BUT SOME PRODUCTS MAY BE TRAINED TO WAIT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2097385"/>
            <a:ext cx="5994250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PROMOTION SIGNAL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2110085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2545159"/>
            <a:ext cx="63498" cy="3855641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6" name="Text 4"/>
          <p:cNvSpPr/>
          <p:nvPr/>
        </p:nvSpPr>
        <p:spPr>
          <a:xfrm>
            <a:off x="749281" y="2672159"/>
            <a:ext cx="1705925" cy="67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839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49281" y="3518098"/>
            <a:ext cx="1705925" cy="2680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839 purchases were discounted and above the average purchase amount; promotions can coexist with higher baskets.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683800" y="2773759"/>
            <a:ext cx="1540928" cy="1355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50.00%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683800" y="4297363"/>
            <a:ext cx="1540928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Discount exposure for Hat.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81916" y="2773759"/>
            <a:ext cx="1769423" cy="1355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49.66%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681916" y="4297363"/>
            <a:ext cx="1769423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Discount exposure for Sneakers.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40416" y="381000"/>
            <a:ext cx="485127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1B1E2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HIGHEST EXPOSURE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40416" y="639763"/>
            <a:ext cx="4419489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Hat · 50.00%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40416" y="1163935"/>
            <a:ext cx="4419489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Sneakers · 49.66%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40416" y="1688108"/>
            <a:ext cx="4419489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Coat · 49.07%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40416" y="2212280"/>
            <a:ext cx="4419489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Sweater · 48.17%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40416" y="2736453"/>
            <a:ext cx="4419489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Pants · 47.37%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40416" y="3228876"/>
            <a:ext cx="4419489" cy="4764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USE TARGETED OFFERS AND MARGIN GUARDRAILS INSTEAD OF BROAD DISCOUNTING.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40416" y="3241576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8856" y="2545159"/>
            <a:ext cx="12700" cy="3855641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6972" y="2545159"/>
            <a:ext cx="12700" cy="3855641"/>
          </a:xfrm>
          <a:prstGeom prst="rect">
            <a:avLst/>
          </a:prstGeom>
          <a:solidFill>
            <a:srgbClr val="BCC0B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330200"/>
            <a:ext cx="614664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3600" spc="-108" kern="100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LOYALTY IS LARGE, BUT SUBSCRIPTIONS ARE UNDERDEVELOPED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80990" y="1339652"/>
            <a:ext cx="6146646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CUSTOMER SEGMENTS AND SUBSCRIPTION STATUS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0990" y="1352352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90" y="2747962"/>
            <a:ext cx="5841854" cy="266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1407" y="812800"/>
            <a:ext cx="365750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Customer segments: 3,116 Loyal, 701 Returning, and 83 New.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21407" y="2464594"/>
            <a:ext cx="3657509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Subscriptions reach 1,053 customers, or 27%, versus 2,847 non-subscribers, or 73%.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21407" y="4414242"/>
            <a:ext cx="3657509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Average spend is nearly flat between subscribers ($59.49) and non-subscribers ($59.87), so the subscription value proposition needs sharper benefits.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264218" y="2001044"/>
            <a:ext cx="4571886" cy="12700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11" name="Shape 8"/>
          <p:cNvSpPr/>
          <p:nvPr/>
        </p:nvSpPr>
        <p:spPr>
          <a:xfrm>
            <a:off x="7264218" y="3950692"/>
            <a:ext cx="4571886" cy="12700"/>
          </a:xfrm>
          <a:prstGeom prst="rect">
            <a:avLst/>
          </a:prstGeom>
          <a:solidFill>
            <a:srgbClr val="BCC0B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YOUNG ADULTS LEAD REVENUE, WHILE EVERY AGE GROUP CONTRIBUTES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06748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REVENUE BY AGE GROUP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054523"/>
            <a:ext cx="10413739" cy="3111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189" y="5318423"/>
            <a:ext cx="63498" cy="1052909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7" name="Text 4"/>
          <p:cNvSpPr/>
          <p:nvPr/>
        </p:nvSpPr>
        <p:spPr>
          <a:xfrm>
            <a:off x="749281" y="5547023"/>
            <a:ext cx="5117972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Prioritize acquisition and lifecycle campaigns for Young Adults.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640" y="5547023"/>
            <a:ext cx="5333867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Tailor creative and offers for the other groups rather than treating the market as one segment.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PRODUCT PROOF IS STRONGEST WHERE RATINGS AND VOLUME OVERLAP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606748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TWO-AXIS PRODUCT PLAN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619448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2054523"/>
            <a:ext cx="5486263" cy="3550543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359323"/>
            <a:ext cx="5156071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1B1E2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FEATURE IN CAMPAIGNS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7380" y="2618085"/>
            <a:ext cx="4825879" cy="67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3.86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87380" y="3394174"/>
            <a:ext cx="4825879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Gloves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7380" y="3886597"/>
            <a:ext cx="48258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Top-rated products: Sandals 3.84, Boots 3.82, Hat 3.80, and Skirt 3.78.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48244" y="2054523"/>
            <a:ext cx="5486263" cy="3550543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11" name="Text 9"/>
          <p:cNvSpPr/>
          <p:nvPr/>
        </p:nvSpPr>
        <p:spPr>
          <a:xfrm>
            <a:off x="6578435" y="2359323"/>
            <a:ext cx="5156071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FFFFFF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PROTECT AVAILABILITY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78435" y="2618085"/>
            <a:ext cx="4825879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High-volume staples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78435" y="3110508"/>
            <a:ext cx="48258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Feature high-rated items in campaigns; protect availability for high-volume staples.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78435" y="3858617"/>
            <a:ext cx="4825879" cy="67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3.75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6578435" y="4704556"/>
            <a:ext cx="48258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Ratings average 3.75 overall, leaving room to improve product experience and review capture.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54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16722" y="457200"/>
            <a:ext cx="6217784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THREE MOVES CAN TURN THE ANALYSIS INTO GROWTH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516722" y="1606748"/>
            <a:ext cx="6217784" cy="1342132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5" name="Shape 2"/>
          <p:cNvSpPr/>
          <p:nvPr/>
        </p:nvSpPr>
        <p:spPr>
          <a:xfrm>
            <a:off x="5745316" y="1760736"/>
            <a:ext cx="377816" cy="377825"/>
          </a:xfrm>
          <a:prstGeom prst="ellipse">
            <a:avLst/>
          </a:prstGeom>
          <a:solidFill>
            <a:srgbClr val="1D6A4B"/>
          </a:solidFill>
          <a:ln w="12700">
            <a:solidFill>
              <a:srgbClr val="BDDAC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24293" y="1841698"/>
            <a:ext cx="8294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39027" y="1733748"/>
            <a:ext cx="5166886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Grow subscriptions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339027" y="2226171"/>
            <a:ext cx="5166886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Package exclusive benefits, early access, and shipping value for loyal non-subscribers.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516722" y="3101280"/>
            <a:ext cx="6217784" cy="1639987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0" name="Shape 7"/>
          <p:cNvSpPr/>
          <p:nvPr/>
        </p:nvSpPr>
        <p:spPr>
          <a:xfrm>
            <a:off x="5745316" y="3249712"/>
            <a:ext cx="389027" cy="389037"/>
          </a:xfrm>
          <a:prstGeom prst="ellipse">
            <a:avLst/>
          </a:prstGeom>
          <a:solidFill>
            <a:srgbClr val="1D6A4B"/>
          </a:solidFill>
          <a:ln w="12700">
            <a:solidFill>
              <a:srgbClr val="BDDA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11990" y="3336230"/>
            <a:ext cx="8652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0238" y="3228280"/>
            <a:ext cx="5155674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Protect margin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50238" y="3720703"/>
            <a:ext cx="5155674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Shift from blanket discounts to product- and segment-specific offers, especially in discount-dependent categories.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516722" y="4893667"/>
            <a:ext cx="6217784" cy="1342132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5" name="Shape 12"/>
          <p:cNvSpPr/>
          <p:nvPr/>
        </p:nvSpPr>
        <p:spPr>
          <a:xfrm>
            <a:off x="5745316" y="5039916"/>
            <a:ext cx="393293" cy="393303"/>
          </a:xfrm>
          <a:prstGeom prst="ellipse">
            <a:avLst/>
          </a:prstGeom>
          <a:solidFill>
            <a:srgbClr val="1D6A4B"/>
          </a:solidFill>
          <a:ln w="12700">
            <a:solidFill>
              <a:srgbClr val="BDDAC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11990" y="5128617"/>
            <a:ext cx="86953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54504" y="5020667"/>
            <a:ext cx="5151408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Personalize demand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354504" y="5513090"/>
            <a:ext cx="515140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Target age groups, category affinities, and shipping preferences with tailored campaigns.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MEASURE THE NEXT CYCLE BY BEHAVIOR, NOT ACTIVITY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116112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OPERATING SCORECARD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128812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2062659"/>
            <a:ext cx="535926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6582" y="2321421"/>
            <a:ext cx="5079873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Conversion among loyal non-subscribers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6582" y="3185616"/>
            <a:ext cx="535926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Retention and incremental spend.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75241" y="2248595"/>
            <a:ext cx="535926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75241" y="2507357"/>
            <a:ext cx="5079873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Full-price share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75241" y="2999780"/>
            <a:ext cx="535926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Basket size and margin by product and segment.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6582" y="4518124"/>
            <a:ext cx="535926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582" y="4776887"/>
            <a:ext cx="5079873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Rating trend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582" y="5269309"/>
            <a:ext cx="507987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Review completion, repeat purchase rate, and fulfillment choice.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95848" y="3982343"/>
            <a:ext cx="5638659" cy="2418457"/>
          </a:xfrm>
          <a:custGeom>
            <a:avLst/>
            <a:gdLst/>
            <a:ahLst/>
            <a:cxnLst/>
            <a:rect l="l" t="t" r="r" b="b"/>
            <a:pathLst>
              <a:path w="5638659" h="2418457">
                <a:moveTo>
                  <a:pt x="0" y="0"/>
                </a:moveTo>
                <a:lnTo>
                  <a:pt x="5638659" y="0"/>
                </a:lnTo>
                <a:lnTo>
                  <a:pt x="5638659" y="2408932"/>
                </a:lnTo>
                <a:arcTo hR="9525" wR="9525" stAng="0" swAng="5400000"/>
                <a:lnTo>
                  <a:pt x="0" y="2418457"/>
                </a:lnTo>
                <a:lnTo>
                  <a:pt x="0" y="0"/>
                </a:lnTo>
                <a:close/>
              </a:path>
            </a:pathLst>
          </a:custGeom>
          <a:solidFill>
            <a:srgbClr val="1B1E21"/>
          </a:solidFill>
          <a:ln/>
        </p:spPr>
      </p:sp>
      <p:sp>
        <p:nvSpPr>
          <p:cNvPr id="15" name="Text 13"/>
          <p:cNvSpPr/>
          <p:nvPr/>
        </p:nvSpPr>
        <p:spPr>
          <a:xfrm>
            <a:off x="6375241" y="4667052"/>
            <a:ext cx="535926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FFFFFF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OPERATING CADENCE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5241" y="4925814"/>
            <a:ext cx="5079873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Refresh the Power BI view regularly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75241" y="5418237"/>
            <a:ext cx="535926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SQL segments to activate campaigns.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89498" y="1563886"/>
            <a:ext cx="12700" cy="2418457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189" y="3975993"/>
            <a:ext cx="5638659" cy="12700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9498" y="3982343"/>
            <a:ext cx="12700" cy="2418457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3975993"/>
            <a:ext cx="5638659" cy="12700"/>
          </a:xfrm>
          <a:prstGeom prst="rect">
            <a:avLst/>
          </a:prstGeom>
          <a:solidFill>
            <a:srgbClr val="BCC0B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2026-10-02T16:44:39Z</dcterms:created>
  <dcterms:modified xsi:type="dcterms:W3CDTF">2026-10-02T16:44:39Z</dcterms:modified>
</cp:coreProperties>
</file>